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presProps.xml" ContentType="application/vnd.openxmlformats-officedocument.presentationml.presPro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0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перемещения страницы щёлкните мышью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marL="216000" indent="-21600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формата примечаний щёлкните мышью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&lt;верхний колонтитул&gt;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1ADD6C89-646F-4A25-B95F-3AC68BB6DF34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fld id="{82B66109-5EFB-412C-8C19-C2E300C8A985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&lt;номер&gt;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 type="sldImg"/>
          </p:nvPr>
        </p:nvSpPr>
        <p:spPr>
          <a:xfrm>
            <a:off x="380880" y="69516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111" name="PlaceHolder 3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marL="216000" indent="-21600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fld id="{73F84AB8-691C-4793-91AA-899ADE4DACF0}" type="slidenum"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&lt;номер&gt;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 type="sldImg"/>
          </p:nvPr>
        </p:nvSpPr>
        <p:spPr>
          <a:xfrm>
            <a:off x="380880" y="69516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114" name="PlaceHolder 3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marL="216000" indent="-21600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fld id="{2A20C1F4-B422-4CF3-B357-AE171143F893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&lt;номер&gt;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 type="sldImg"/>
          </p:nvPr>
        </p:nvSpPr>
        <p:spPr>
          <a:xfrm>
            <a:off x="380880" y="69516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117" name="PlaceHolder 3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marL="216000" indent="-21600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Пустой слайд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структуры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Пустой слайд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структуры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головок и контакты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17;p3"/>
          <p:cNvPicPr/>
          <p:nvPr/>
        </p:nvPicPr>
        <p:blipFill>
          <a:blip r:embed="rId2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" name="Google Shape;18;p3"/>
          <p:cNvSpPr/>
          <p:nvPr/>
        </p:nvSpPr>
        <p:spPr>
          <a:xfrm>
            <a:off x="0" y="4656240"/>
            <a:ext cx="12191760" cy="2229840"/>
          </a:xfrm>
          <a:prstGeom prst="rect">
            <a:avLst/>
          </a:prstGeom>
          <a:gradFill rotWithShape="0">
            <a:gsLst>
              <a:gs pos="0">
                <a:srgbClr val="262E78">
                  <a:alpha val="61176"/>
                </a:srgbClr>
              </a:gs>
              <a:gs pos="100000">
                <a:srgbClr val="00756F">
                  <a:alpha val="57255"/>
                </a:srgbClr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Google Shape;19;p3"/>
          <p:cNvSpPr/>
          <p:nvPr/>
        </p:nvSpPr>
        <p:spPr>
          <a:xfrm>
            <a:off x="0" y="3600"/>
            <a:ext cx="12191760" cy="1859040"/>
          </a:xfrm>
          <a:prstGeom prst="rect">
            <a:avLst/>
          </a:prstGeom>
          <a:gradFill rotWithShape="0">
            <a:gsLst>
              <a:gs pos="0">
                <a:srgbClr val="262E78">
                  <a:alpha val="70196"/>
                </a:srgbClr>
              </a:gs>
              <a:gs pos="100000">
                <a:srgbClr val="01C3BA">
                  <a:alpha val="46275"/>
                </a:srgbClr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Google Shape;20;p3"/>
          <p:cNvSpPr/>
          <p:nvPr/>
        </p:nvSpPr>
        <p:spPr>
          <a:xfrm>
            <a:off x="3453120" y="5102280"/>
            <a:ext cx="1390320" cy="1391040"/>
          </a:xfrm>
          <a:prstGeom prst="ellipse">
            <a:avLst/>
          </a:prstGeom>
          <a:noFill/>
          <a:ln w="7632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1"/>
          <p:cNvSpPr>
            <a:spLocks noGrp="1"/>
          </p:cNvSpPr>
          <p:nvPr>
            <p:ph type="body"/>
          </p:nvPr>
        </p:nvSpPr>
        <p:spPr>
          <a:xfrm>
            <a:off x="0" y="2941200"/>
            <a:ext cx="12191040" cy="63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структуры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3480840" y="5120640"/>
            <a:ext cx="1299600" cy="1372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структуры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body"/>
          </p:nvPr>
        </p:nvSpPr>
        <p:spPr>
          <a:xfrm>
            <a:off x="5221080" y="5034600"/>
            <a:ext cx="6554880" cy="5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структуры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body"/>
          </p:nvPr>
        </p:nvSpPr>
        <p:spPr>
          <a:xfrm>
            <a:off x="5221080" y="5590080"/>
            <a:ext cx="6554880" cy="30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структуры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body"/>
          </p:nvPr>
        </p:nvSpPr>
        <p:spPr>
          <a:xfrm>
            <a:off x="5221080" y="5935320"/>
            <a:ext cx="6554880" cy="30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структуры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6"/>
          <p:cNvSpPr>
            <a:spLocks noGrp="1"/>
          </p:cNvSpPr>
          <p:nvPr>
            <p:ph type="body"/>
          </p:nvPr>
        </p:nvSpPr>
        <p:spPr>
          <a:xfrm>
            <a:off x="5221080" y="6269760"/>
            <a:ext cx="6554880" cy="30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7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165;p21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" name="Google Shape;166;p21"/>
          <p:cNvSpPr/>
          <p:nvPr/>
        </p:nvSpPr>
        <p:spPr>
          <a:xfrm>
            <a:off x="0" y="0"/>
            <a:ext cx="12191760" cy="1859040"/>
          </a:xfrm>
          <a:prstGeom prst="rect">
            <a:avLst/>
          </a:prstGeom>
          <a:gradFill rotWithShape="0">
            <a:gsLst>
              <a:gs pos="0">
                <a:srgbClr val="262E78">
                  <a:alpha val="70196"/>
                </a:srgbClr>
              </a:gs>
              <a:gs pos="100000">
                <a:srgbClr val="01C3BA">
                  <a:alpha val="46275"/>
                </a:srgbClr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" name="Google Shape;167;p21"/>
          <p:cNvPicPr/>
          <p:nvPr/>
        </p:nvPicPr>
        <p:blipFill>
          <a:blip r:embed="rId2"/>
          <a:stretch/>
        </p:blipFill>
        <p:spPr>
          <a:xfrm>
            <a:off x="4996800" y="1941120"/>
            <a:ext cx="2198160" cy="971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" name="Google Shape;168;p21"/>
          <p:cNvSpPr/>
          <p:nvPr/>
        </p:nvSpPr>
        <p:spPr>
          <a:xfrm>
            <a:off x="0" y="4643280"/>
            <a:ext cx="12191760" cy="2229840"/>
          </a:xfrm>
          <a:prstGeom prst="rect">
            <a:avLst/>
          </a:prstGeom>
          <a:gradFill rotWithShape="0">
            <a:gsLst>
              <a:gs pos="0">
                <a:srgbClr val="262E78">
                  <a:alpha val="61176"/>
                </a:srgbClr>
              </a:gs>
              <a:gs pos="100000">
                <a:srgbClr val="00756F">
                  <a:alpha val="57255"/>
                </a:srgbClr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Google Shape;169;p21"/>
          <p:cNvSpPr/>
          <p:nvPr/>
        </p:nvSpPr>
        <p:spPr>
          <a:xfrm>
            <a:off x="54720" y="2670120"/>
            <a:ext cx="12082680" cy="1295640"/>
          </a:xfrm>
          <a:prstGeom prst="roundRect">
            <a:avLst>
              <a:gd name="adj" fmla="val 60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000" tIns="22320" rIns="45000" bIns="2232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5500" b="1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Онлайн-образование</a:t>
            </a:r>
            <a:endParaRPr lang="en-US" sz="5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Google Shape;170;p21"/>
          <p:cNvSpPr/>
          <p:nvPr/>
        </p:nvSpPr>
        <p:spPr>
          <a:xfrm>
            <a:off x="152280" y="152280"/>
            <a:ext cx="12191760" cy="1859040"/>
          </a:xfrm>
          <a:prstGeom prst="rect">
            <a:avLst/>
          </a:prstGeom>
          <a:gradFill rotWithShape="0">
            <a:gsLst>
              <a:gs pos="0">
                <a:srgbClr val="262E78">
                  <a:alpha val="70196"/>
                </a:srgbClr>
              </a:gs>
              <a:gs pos="100000">
                <a:srgbClr val="01C3BA">
                  <a:alpha val="46275"/>
                </a:srgbClr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176;p22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" name="Google Shape;177;p22"/>
          <p:cNvSpPr/>
          <p:nvPr/>
        </p:nvSpPr>
        <p:spPr>
          <a:xfrm>
            <a:off x="0" y="0"/>
            <a:ext cx="12191760" cy="1859040"/>
          </a:xfrm>
          <a:prstGeom prst="rect">
            <a:avLst/>
          </a:prstGeom>
          <a:gradFill rotWithShape="0">
            <a:gsLst>
              <a:gs pos="0">
                <a:srgbClr val="262E78">
                  <a:alpha val="70196"/>
                </a:srgbClr>
              </a:gs>
              <a:gs pos="100000">
                <a:srgbClr val="01C3BA">
                  <a:alpha val="46275"/>
                </a:srgbClr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Google Shape;178;p22"/>
          <p:cNvSpPr/>
          <p:nvPr/>
        </p:nvSpPr>
        <p:spPr>
          <a:xfrm>
            <a:off x="0" y="4643280"/>
            <a:ext cx="12191760" cy="2229840"/>
          </a:xfrm>
          <a:prstGeom prst="rect">
            <a:avLst/>
          </a:prstGeom>
          <a:gradFill rotWithShape="0">
            <a:gsLst>
              <a:gs pos="0">
                <a:srgbClr val="262E78">
                  <a:alpha val="61176"/>
                </a:srgbClr>
              </a:gs>
              <a:gs pos="100000">
                <a:srgbClr val="00756F">
                  <a:alpha val="57255"/>
                </a:srgbClr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Google Shape;179;p22"/>
          <p:cNvSpPr/>
          <p:nvPr/>
        </p:nvSpPr>
        <p:spPr>
          <a:xfrm>
            <a:off x="54720" y="2080440"/>
            <a:ext cx="12082680" cy="1295640"/>
          </a:xfrm>
          <a:prstGeom prst="roundRect">
            <a:avLst>
              <a:gd name="adj" fmla="val 60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000" tIns="22320" rIns="45000" bIns="2232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4920" b="1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Меня хорошо видно &amp;&amp; слышно?</a:t>
            </a:r>
            <a:endParaRPr lang="en-US" sz="4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Google Shape;180;p22"/>
          <p:cNvSpPr/>
          <p:nvPr/>
        </p:nvSpPr>
        <p:spPr>
          <a:xfrm>
            <a:off x="0" y="3341520"/>
            <a:ext cx="12137040" cy="64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211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Ставьте</a:t>
            </a:r>
            <a:r>
              <a:rPr lang="en-US" sz="211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	</a:t>
            </a:r>
            <a:r>
              <a:rPr lang="en-US" sz="211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       , если все хорошо</a:t>
            </a:r>
            <a:endParaRPr lang="en-US" sz="2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211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Напишите в чат, если есть проблемы</a:t>
            </a:r>
            <a:endParaRPr lang="en-US" sz="2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Google Shape;181;p22"/>
          <p:cNvSpPr/>
          <p:nvPr/>
        </p:nvSpPr>
        <p:spPr>
          <a:xfrm>
            <a:off x="5409000" y="3376800"/>
            <a:ext cx="324720" cy="280440"/>
          </a:xfrm>
          <a:prstGeom prst="roundRect">
            <a:avLst>
              <a:gd name="adj" fmla="val 16667"/>
            </a:avLst>
          </a:prstGeom>
          <a:solidFill>
            <a:srgbClr val="FFFFFF">
              <a:alpha val="4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+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/>
          </p:nvPr>
        </p:nvSpPr>
        <p:spPr>
          <a:xfrm>
            <a:off x="0" y="2941200"/>
            <a:ext cx="12191040" cy="63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>
              <a:lnSpc>
                <a:spcPct val="102000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МИГРАЦИЯ ТАБЛИЦЫ В </a:t>
            </a: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АСИНХРОННОМ РЕЖИМЕ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2000"/>
              </a:lnSpc>
              <a:buNone/>
              <a:tabLst>
                <a:tab pos="0" algn="l"/>
              </a:tabLst>
            </a:pP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2000"/>
              </a:lnSpc>
              <a:buNone/>
              <a:tabLst>
                <a:tab pos="0" algn="l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Защита проекта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2000"/>
              </a:lnSpc>
              <a:buNone/>
              <a:tabLst>
                <a:tab pos="0" algn="l"/>
              </a:tabLst>
            </a:pPr>
            <a:endParaRPr lang="en-US" sz="3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5221080" y="5034600"/>
            <a:ext cx="6554880" cy="522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17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Гынгазов Лев</a:t>
            </a:r>
            <a:endParaRPr lang="en-US" sz="3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5221080" y="5590080"/>
            <a:ext cx="6554880" cy="308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62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Заместитель директора</a:t>
            </a:r>
            <a:endParaRPr lang="en-US" sz="16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/>
          </p:nvPr>
        </p:nvSpPr>
        <p:spPr>
          <a:xfrm>
            <a:off x="5221080" y="5935320"/>
            <a:ext cx="6554880" cy="308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62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АО “ЦЕНТРИНОФРМ”</a:t>
            </a:r>
            <a:endParaRPr lang="en-US" sz="16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62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Московский филиал</a:t>
            </a:r>
            <a:endParaRPr lang="en-US" sz="16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196;p24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" name="Google Shape;197;p24"/>
          <p:cNvSpPr/>
          <p:nvPr/>
        </p:nvSpPr>
        <p:spPr>
          <a:xfrm>
            <a:off x="719640" y="348840"/>
            <a:ext cx="10752120" cy="50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9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План защиты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Google Shape;198;p24"/>
          <p:cNvSpPr/>
          <p:nvPr/>
        </p:nvSpPr>
        <p:spPr>
          <a:xfrm>
            <a:off x="1882800" y="1608120"/>
            <a:ext cx="72000" cy="59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5640" tIns="35640" rIns="35640" bIns="35640" anchor="ctr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42" name="Google Shape;199;p24"/>
          <p:cNvGrpSpPr/>
          <p:nvPr/>
        </p:nvGrpSpPr>
        <p:grpSpPr>
          <a:xfrm>
            <a:off x="2665800" y="1762560"/>
            <a:ext cx="6944040" cy="2772000"/>
            <a:chOff x="2665800" y="1762560"/>
            <a:chExt cx="6944040" cy="2772000"/>
          </a:xfrm>
        </p:grpSpPr>
        <p:sp>
          <p:nvSpPr>
            <p:cNvPr id="43" name="Google Shape;200;p24"/>
            <p:cNvSpPr/>
            <p:nvPr/>
          </p:nvSpPr>
          <p:spPr>
            <a:xfrm>
              <a:off x="2665800" y="1762560"/>
              <a:ext cx="6944040" cy="503640"/>
            </a:xfrm>
            <a:prstGeom prst="roundRect">
              <a:avLst>
                <a:gd name="adj" fmla="val 10000"/>
              </a:avLst>
            </a:prstGeom>
            <a:solidFill>
              <a:srgbClr val="40CDD0"/>
            </a:solidFill>
            <a:ln w="1260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800" b="1" u="none" strike="noStrike">
                  <a:solidFill>
                    <a:srgbClr val="FFFFFF"/>
                  </a:solidFill>
                  <a:effectLst/>
                  <a:uFillTx/>
                  <a:latin typeface="Roboto"/>
                  <a:ea typeface="Roboto"/>
                </a:rPr>
                <a:t>Постановка задачи</a:t>
              </a:r>
              <a:endPara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" name="Google Shape;201;p24"/>
            <p:cNvSpPr/>
            <p:nvPr/>
          </p:nvSpPr>
          <p:spPr>
            <a:xfrm>
              <a:off x="2692440" y="1777320"/>
              <a:ext cx="6890400" cy="474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33200" tIns="133200" rIns="133200" bIns="1332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5" name="Google Shape;202;p24"/>
            <p:cNvSpPr/>
            <p:nvPr/>
          </p:nvSpPr>
          <p:spPr>
            <a:xfrm rot="5400000">
              <a:off x="6043680" y="2187720"/>
              <a:ext cx="188640" cy="408960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ABBAD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" name="Google Shape;203;p24"/>
            <p:cNvSpPr/>
            <p:nvPr/>
          </p:nvSpPr>
          <p:spPr>
            <a:xfrm>
              <a:off x="6015240" y="2297880"/>
              <a:ext cx="245160" cy="132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" name="Google Shape;204;p24"/>
            <p:cNvSpPr/>
            <p:nvPr/>
          </p:nvSpPr>
          <p:spPr>
            <a:xfrm>
              <a:off x="2665800" y="2518560"/>
              <a:ext cx="6944040" cy="503640"/>
            </a:xfrm>
            <a:prstGeom prst="roundRect">
              <a:avLst>
                <a:gd name="adj" fmla="val 10000"/>
              </a:avLst>
            </a:prstGeom>
            <a:solidFill>
              <a:srgbClr val="40CDD0"/>
            </a:solidFill>
            <a:ln w="1260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" name="Google Shape;205;p24"/>
            <p:cNvSpPr/>
            <p:nvPr/>
          </p:nvSpPr>
          <p:spPr>
            <a:xfrm>
              <a:off x="2692440" y="2533320"/>
              <a:ext cx="6890400" cy="474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6560" tIns="106560" rIns="106560" bIns="10656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800" b="1" u="none" strike="noStrike">
                  <a:solidFill>
                    <a:srgbClr val="FFFFFF"/>
                  </a:solidFill>
                  <a:effectLst/>
                  <a:uFillTx/>
                  <a:latin typeface="Roboto"/>
                  <a:ea typeface="Roboto"/>
                </a:rPr>
                <a:t>Цели проекта</a:t>
              </a:r>
              <a:endPara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" name="Google Shape;206;p24"/>
            <p:cNvSpPr/>
            <p:nvPr/>
          </p:nvSpPr>
          <p:spPr>
            <a:xfrm rot="5400000">
              <a:off x="6043680" y="2944080"/>
              <a:ext cx="188640" cy="408960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ABBAD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" name="Google Shape;207;p24"/>
            <p:cNvSpPr/>
            <p:nvPr/>
          </p:nvSpPr>
          <p:spPr>
            <a:xfrm>
              <a:off x="6015240" y="3054240"/>
              <a:ext cx="245160" cy="132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" name="Google Shape;208;p24"/>
            <p:cNvSpPr/>
            <p:nvPr/>
          </p:nvSpPr>
          <p:spPr>
            <a:xfrm>
              <a:off x="2700720" y="3274560"/>
              <a:ext cx="6874200" cy="503640"/>
            </a:xfrm>
            <a:prstGeom prst="roundRect">
              <a:avLst>
                <a:gd name="adj" fmla="val 10000"/>
              </a:avLst>
            </a:prstGeom>
            <a:solidFill>
              <a:srgbClr val="40CDD0"/>
            </a:solidFill>
            <a:ln w="1260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" name="Google Shape;209;p24"/>
            <p:cNvSpPr/>
            <p:nvPr/>
          </p:nvSpPr>
          <p:spPr>
            <a:xfrm>
              <a:off x="2727360" y="3289320"/>
              <a:ext cx="6820920" cy="474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6560" tIns="106560" rIns="106560" bIns="106560" anchor="ctr">
              <a:noAutofit/>
            </a:bodyPr>
            <a:p>
              <a:pPr algn="ctr">
                <a:lnSpc>
                  <a:spcPct val="90000"/>
                </a:lnSpc>
                <a:tabLst>
                  <a:tab pos="0" algn="l"/>
                </a:tabLst>
              </a:pPr>
              <a:r>
                <a:rPr lang="en-US" sz="2800" b="1" u="none" strike="noStrike">
                  <a:solidFill>
                    <a:srgbClr val="FFFFFF"/>
                  </a:solidFill>
                  <a:effectLst/>
                  <a:uFillTx/>
                  <a:latin typeface="Roboto"/>
                  <a:ea typeface="Roboto"/>
                </a:rPr>
                <a:t>Технологии</a:t>
              </a:r>
              <a:endPara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" name="Google Shape;210;p24"/>
            <p:cNvSpPr/>
            <p:nvPr/>
          </p:nvSpPr>
          <p:spPr>
            <a:xfrm rot="5400000">
              <a:off x="6043680" y="3700080"/>
              <a:ext cx="188640" cy="408960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ABBAD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" name="Google Shape;211;p24"/>
            <p:cNvSpPr/>
            <p:nvPr/>
          </p:nvSpPr>
          <p:spPr>
            <a:xfrm>
              <a:off x="6015240" y="3810240"/>
              <a:ext cx="245160" cy="132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" name="Google Shape;212;p24"/>
            <p:cNvSpPr/>
            <p:nvPr/>
          </p:nvSpPr>
          <p:spPr>
            <a:xfrm>
              <a:off x="2693520" y="4030920"/>
              <a:ext cx="6888600" cy="503640"/>
            </a:xfrm>
            <a:prstGeom prst="roundRect">
              <a:avLst>
                <a:gd name="adj" fmla="val 10000"/>
              </a:avLst>
            </a:prstGeom>
            <a:solidFill>
              <a:srgbClr val="40CDD0"/>
            </a:solidFill>
            <a:ln w="1260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" name="Google Shape;213;p24"/>
            <p:cNvSpPr/>
            <p:nvPr/>
          </p:nvSpPr>
          <p:spPr>
            <a:xfrm>
              <a:off x="2720160" y="4045680"/>
              <a:ext cx="6835320" cy="474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6560" tIns="106560" rIns="106560" bIns="106560" anchor="ctr">
              <a:noAutofit/>
            </a:bodyPr>
            <a:p>
              <a:pPr algn="ctr">
                <a:lnSpc>
                  <a:spcPct val="90000"/>
                </a:lnSpc>
                <a:tabLst>
                  <a:tab pos="0" algn="l"/>
                </a:tabLst>
              </a:pPr>
              <a:r>
                <a:rPr lang="en-US" sz="2800" b="1" u="none" strike="noStrike">
                  <a:solidFill>
                    <a:srgbClr val="FFFFFF"/>
                  </a:solidFill>
                  <a:effectLst/>
                  <a:uFillTx/>
                  <a:latin typeface="Roboto"/>
                  <a:ea typeface="Roboto"/>
                </a:rPr>
                <a:t>Архитектура</a:t>
              </a:r>
              <a:endPara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57" name="Google Shape;214;p24"/>
          <p:cNvGrpSpPr/>
          <p:nvPr/>
        </p:nvGrpSpPr>
        <p:grpSpPr>
          <a:xfrm>
            <a:off x="2730240" y="4600440"/>
            <a:ext cx="6944040" cy="1497960"/>
            <a:chOff x="2730240" y="4600440"/>
            <a:chExt cx="6944040" cy="1497960"/>
          </a:xfrm>
        </p:grpSpPr>
        <p:sp>
          <p:nvSpPr>
            <p:cNvPr id="58" name="Google Shape;215;p24"/>
            <p:cNvSpPr/>
            <p:nvPr/>
          </p:nvSpPr>
          <p:spPr>
            <a:xfrm>
              <a:off x="2730240" y="4838400"/>
              <a:ext cx="6944040" cy="503640"/>
            </a:xfrm>
            <a:prstGeom prst="roundRect">
              <a:avLst>
                <a:gd name="adj" fmla="val 10000"/>
              </a:avLst>
            </a:prstGeom>
            <a:solidFill>
              <a:srgbClr val="40CDD0"/>
            </a:solidFill>
            <a:ln w="1260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90000"/>
                </a:lnSpc>
                <a:tabLst>
                  <a:tab pos="0" algn="l"/>
                </a:tabLst>
              </a:pPr>
              <a:r>
                <a:rPr lang="en-US" sz="2800" b="1" u="none" strike="noStrike">
                  <a:solidFill>
                    <a:srgbClr val="FFFFFF"/>
                  </a:solidFill>
                  <a:effectLst/>
                  <a:uFillTx/>
                  <a:latin typeface="Roboto"/>
                  <a:ea typeface="Roboto"/>
                </a:rPr>
                <a:t>Результаты</a:t>
              </a:r>
              <a:endPara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" name="Google Shape;216;p24"/>
            <p:cNvSpPr/>
            <p:nvPr/>
          </p:nvSpPr>
          <p:spPr>
            <a:xfrm>
              <a:off x="2756880" y="4853160"/>
              <a:ext cx="6890400" cy="474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33200" tIns="133200" rIns="133200" bIns="133200" anchor="ctr">
              <a:noAutofit/>
            </a:bodyPr>
            <a:p>
              <a:pPr algn="ctr">
                <a:lnSpc>
                  <a:spcPct val="9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" name="Google Shape;217;p24"/>
            <p:cNvSpPr/>
            <p:nvPr/>
          </p:nvSpPr>
          <p:spPr>
            <a:xfrm rot="5400000">
              <a:off x="6108480" y="5263920"/>
              <a:ext cx="188640" cy="408960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ABBAD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" name="Google Shape;218;p24"/>
            <p:cNvSpPr/>
            <p:nvPr/>
          </p:nvSpPr>
          <p:spPr>
            <a:xfrm>
              <a:off x="6079680" y="5374080"/>
              <a:ext cx="245160" cy="132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" name="Google Shape;219;p24"/>
            <p:cNvSpPr/>
            <p:nvPr/>
          </p:nvSpPr>
          <p:spPr>
            <a:xfrm>
              <a:off x="2730240" y="5594760"/>
              <a:ext cx="6944040" cy="503640"/>
            </a:xfrm>
            <a:prstGeom prst="roundRect">
              <a:avLst>
                <a:gd name="adj" fmla="val 10000"/>
              </a:avLst>
            </a:prstGeom>
            <a:solidFill>
              <a:srgbClr val="40CDD0"/>
            </a:solidFill>
            <a:ln w="1260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" name="Google Shape;220;p24"/>
            <p:cNvSpPr/>
            <p:nvPr/>
          </p:nvSpPr>
          <p:spPr>
            <a:xfrm>
              <a:off x="2756880" y="5609520"/>
              <a:ext cx="6890400" cy="474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6560" tIns="106560" rIns="106560" bIns="106560" anchor="ctr">
              <a:noAutofit/>
            </a:bodyPr>
            <a:p>
              <a:pPr algn="ctr">
                <a:lnSpc>
                  <a:spcPct val="90000"/>
                </a:lnSpc>
                <a:tabLst>
                  <a:tab pos="0" algn="l"/>
                </a:tabLst>
              </a:pPr>
              <a:r>
                <a:rPr lang="en-US" sz="2800" b="1" u="none" strike="noStrike">
                  <a:solidFill>
                    <a:srgbClr val="FFFFFF"/>
                  </a:solidFill>
                  <a:effectLst/>
                  <a:uFillTx/>
                  <a:latin typeface="Roboto"/>
                  <a:ea typeface="Roboto"/>
                </a:rPr>
                <a:t>Выводы</a:t>
              </a:r>
              <a:endPara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" name="Google Shape;221;p24"/>
            <p:cNvSpPr/>
            <p:nvPr/>
          </p:nvSpPr>
          <p:spPr>
            <a:xfrm rot="5400000">
              <a:off x="6108480" y="4490280"/>
              <a:ext cx="188640" cy="408960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ABBAD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" name="Google Shape;222;p24"/>
            <p:cNvSpPr/>
            <p:nvPr/>
          </p:nvSpPr>
          <p:spPr>
            <a:xfrm>
              <a:off x="6079680" y="4600440"/>
              <a:ext cx="245160" cy="132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227;p25"/>
          <p:cNvPicPr/>
          <p:nvPr/>
        </p:nvPicPr>
        <p:blipFill>
          <a:blip r:embed="rId1"/>
          <a:stretch/>
        </p:blipFill>
        <p:spPr>
          <a:xfrm>
            <a:off x="-131760" y="36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7" name="Google Shape;228;p25"/>
          <p:cNvSpPr/>
          <p:nvPr/>
        </p:nvSpPr>
        <p:spPr>
          <a:xfrm>
            <a:off x="719640" y="348840"/>
            <a:ext cx="10752480" cy="50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90000"/>
              </a:lnSpc>
              <a:tabLst>
                <a:tab pos="0" algn="l"/>
              </a:tabLst>
            </a:pPr>
            <a:r>
              <a:rPr lang="en-US" sz="4500" b="1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Постановка задачи</a:t>
            </a:r>
            <a:endParaRPr lang="en-US" sz="4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Google Shape;231;p25"/>
          <p:cNvSpPr/>
          <p:nvPr/>
        </p:nvSpPr>
        <p:spPr>
          <a:xfrm>
            <a:off x="3244680" y="2021040"/>
            <a:ext cx="6390720" cy="70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Google Shape;234;p25"/>
          <p:cNvSpPr/>
          <p:nvPr/>
        </p:nvSpPr>
        <p:spPr>
          <a:xfrm>
            <a:off x="3244680" y="3459960"/>
            <a:ext cx="6390720" cy="101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Google Shape;236;p25"/>
          <p:cNvSpPr/>
          <p:nvPr/>
        </p:nvSpPr>
        <p:spPr>
          <a:xfrm>
            <a:off x="3244680" y="5311080"/>
            <a:ext cx="6390720" cy="70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Google Shape;297;p 1"/>
          <p:cNvSpPr/>
          <p:nvPr/>
        </p:nvSpPr>
        <p:spPr>
          <a:xfrm>
            <a:off x="180000" y="1265760"/>
            <a:ext cx="11520000" cy="513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D1C1D"/>
                </a:solidFill>
                <a:effectLst/>
                <a:uFillTx/>
                <a:latin typeface="Roboto"/>
                <a:ea typeface="Roboto"/>
              </a:rPr>
              <a:t>1. Дана большая таблица в СУБД Microsoft SQL: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D1C1D"/>
                </a:solidFill>
                <a:effectLst/>
                <a:uFillTx/>
                <a:latin typeface="Roboto"/>
                <a:ea typeface="Roboto"/>
              </a:rPr>
              <a:t>	</a:t>
            </a:r>
            <a:r>
              <a:rPr lang="en-US" sz="1700" b="0" u="none" strike="noStrike">
                <a:solidFill>
                  <a:srgbClr val="1D1C1D"/>
                </a:solidFill>
                <a:effectLst/>
                <a:uFillTx/>
                <a:latin typeface="Roboto"/>
                <a:ea typeface="Roboto"/>
              </a:rPr>
              <a:t>~ 1 млрд. строк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D1C1D"/>
                </a:solidFill>
                <a:effectLst/>
                <a:uFillTx/>
                <a:latin typeface="Roboto"/>
                <a:ea typeface="Roboto"/>
              </a:rPr>
              <a:t>	</a:t>
            </a:r>
            <a:r>
              <a:rPr lang="en-US" sz="1700" b="0" u="none" strike="noStrike">
                <a:solidFill>
                  <a:srgbClr val="1D1C1D"/>
                </a:solidFill>
                <a:effectLst/>
                <a:uFillTx/>
                <a:latin typeface="Roboto"/>
                <a:ea typeface="Roboto"/>
              </a:rPr>
              <a:t>~ 256 байт/строку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D1C1D"/>
                </a:solidFill>
                <a:effectLst/>
                <a:uFillTx/>
                <a:latin typeface="Roboto"/>
                <a:ea typeface="Roboto"/>
              </a:rPr>
              <a:t>2. Смигрировать данные таблицы в СУБД PostgreSQL: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D1C1D"/>
                </a:solidFill>
                <a:effectLst/>
                <a:uFillTx/>
                <a:latin typeface="Roboto"/>
                <a:ea typeface="Roboto"/>
              </a:rPr>
              <a:t>	</a:t>
            </a:r>
            <a:r>
              <a:rPr lang="en-US" sz="1700" b="0" u="none" strike="noStrike">
                <a:solidFill>
                  <a:srgbClr val="1D1C1D"/>
                </a:solidFill>
                <a:effectLst/>
                <a:uFillTx/>
                <a:latin typeface="Roboto"/>
                <a:ea typeface="Roboto"/>
              </a:rPr>
              <a:t>продакшен ЕГАИС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D1C1D"/>
                </a:solidFill>
                <a:effectLst/>
                <a:uFillTx/>
                <a:latin typeface="Roboto"/>
                <a:ea typeface="Roboto"/>
              </a:rPr>
              <a:t>	</a:t>
            </a:r>
            <a:r>
              <a:rPr lang="en-US" sz="1700" b="0" u="none" strike="noStrike">
                <a:solidFill>
                  <a:srgbClr val="1D1C1D"/>
                </a:solidFill>
                <a:effectLst/>
                <a:uFillTx/>
                <a:latin typeface="Roboto"/>
                <a:ea typeface="Roboto"/>
              </a:rPr>
              <a:t>время простоя &lt;= 1 час / 1 млрд. Строк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D1C1D"/>
                </a:solidFill>
                <a:effectLst/>
                <a:uFillTx/>
                <a:latin typeface="Roboto"/>
                <a:ea typeface="Roboto"/>
              </a:rPr>
              <a:t>3. Многопоточные: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D1C1D"/>
                </a:solidFill>
                <a:effectLst/>
                <a:uFillTx/>
                <a:latin typeface="Roboto"/>
                <a:ea typeface="Roboto"/>
              </a:rPr>
              <a:t>	</a:t>
            </a:r>
            <a:r>
              <a:rPr lang="en-US" sz="1700" b="0" u="none" strike="noStrike">
                <a:solidFill>
                  <a:srgbClr val="1D1C1D"/>
                </a:solidFill>
                <a:effectLst/>
                <a:uFillTx/>
                <a:latin typeface="Roboto"/>
                <a:ea typeface="Roboto"/>
              </a:rPr>
              <a:t>чтение из источника, до 32 потоков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D1C1D"/>
                </a:solidFill>
                <a:effectLst/>
                <a:uFillTx/>
                <a:latin typeface="Roboto"/>
                <a:ea typeface="Roboto"/>
              </a:rPr>
              <a:t>	</a:t>
            </a:r>
            <a:r>
              <a:rPr lang="en-US" sz="1700" b="0" u="none" strike="noStrike">
                <a:solidFill>
                  <a:srgbClr val="1D1C1D"/>
                </a:solidFill>
                <a:effectLst/>
                <a:uFillTx/>
                <a:latin typeface="Roboto"/>
                <a:ea typeface="Roboto"/>
              </a:rPr>
              <a:t>запись на получателе</a:t>
            </a:r>
            <a:r>
              <a:rPr lang="en-US" sz="1700" b="0" u="none" strike="noStrike">
                <a:solidFill>
                  <a:srgbClr val="1D1C1D"/>
                </a:solidFill>
                <a:effectLst/>
                <a:uFillTx/>
                <a:latin typeface="Roboto"/>
                <a:ea typeface="Roboto"/>
              </a:rPr>
              <a:t>, до 32 потоков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D1C1D"/>
                </a:solidFill>
                <a:effectLst/>
                <a:uFillTx/>
                <a:latin typeface="Roboto"/>
                <a:ea typeface="Roboto"/>
              </a:rPr>
              <a:t>4. З</a:t>
            </a:r>
            <a:r>
              <a:rPr lang="en-US" sz="1700" b="0" u="none" strike="noStrike">
                <a:solidFill>
                  <a:srgbClr val="1D1C1D"/>
                </a:solidFill>
                <a:effectLst/>
                <a:uFillTx/>
                <a:latin typeface="Roboto"/>
                <a:ea typeface="Roboto"/>
              </a:rPr>
              <a:t>апись не ожидает чтение: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D1C1D"/>
                </a:solidFill>
                <a:effectLst/>
                <a:uFillTx/>
                <a:latin typeface="Roboto"/>
                <a:ea typeface="Roboto"/>
              </a:rPr>
              <a:t>	</a:t>
            </a:r>
            <a:r>
              <a:rPr lang="en-US" sz="1700" b="0" u="none" strike="noStrike">
                <a:solidFill>
                  <a:srgbClr val="1D1C1D"/>
                </a:solidFill>
                <a:effectLst/>
                <a:uFillTx/>
                <a:latin typeface="Roboto"/>
                <a:ea typeface="Roboto"/>
              </a:rPr>
              <a:t>epoll ?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D1C1D"/>
                </a:solidFill>
                <a:effectLst/>
                <a:uFillTx/>
                <a:latin typeface="Roboto"/>
                <a:ea typeface="Roboto"/>
              </a:rPr>
              <a:t>	</a:t>
            </a:r>
            <a:r>
              <a:rPr lang="en-US" sz="1700" b="0" u="none" strike="noStrike">
                <a:solidFill>
                  <a:srgbClr val="1D1C1D"/>
                </a:solidFill>
                <a:effectLst/>
                <a:uFillTx/>
                <a:latin typeface="Roboto"/>
                <a:ea typeface="Roboto"/>
              </a:rPr>
              <a:t>очередь ?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D1C1D"/>
                </a:solidFill>
                <a:effectLst/>
                <a:uFillTx/>
                <a:latin typeface="Roboto"/>
                <a:ea typeface="Roboto"/>
              </a:rPr>
              <a:t>	</a:t>
            </a:r>
            <a:r>
              <a:rPr lang="en-US" sz="1700" b="0" u="none" strike="noStrike">
                <a:solidFill>
                  <a:srgbClr val="1D1C1D"/>
                </a:solidFill>
                <a:effectLst/>
                <a:uFillTx/>
                <a:latin typeface="Roboto"/>
                <a:ea typeface="Roboto"/>
              </a:rPr>
              <a:t>сбалансировать число потоков чтения с </a:t>
            </a:r>
            <a:r>
              <a:rPr lang="en-US" sz="1700" b="0" u="none" strike="noStrike">
                <a:solidFill>
                  <a:srgbClr val="1D1C1D"/>
                </a:solidFill>
                <a:effectLst/>
                <a:uFillTx/>
                <a:latin typeface="Roboto"/>
                <a:ea typeface="Roboto"/>
              </a:rPr>
              <a:t>числом потоков </a:t>
            </a:r>
            <a:r>
              <a:rPr lang="en-US" sz="1700" b="0" u="none" strike="noStrike">
                <a:solidFill>
                  <a:srgbClr val="1D1C1D"/>
                </a:solidFill>
                <a:effectLst/>
                <a:uFillTx/>
                <a:latin typeface="Roboto"/>
                <a:ea typeface="Roboto"/>
              </a:rPr>
              <a:t>записи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D1C1D"/>
                </a:solidFill>
                <a:effectLst/>
                <a:uFillTx/>
                <a:latin typeface="Roboto"/>
                <a:ea typeface="Roboto"/>
              </a:rPr>
              <a:t>5. Потокам чтения: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D1C1D"/>
                </a:solidFill>
                <a:effectLst/>
                <a:uFillTx/>
                <a:latin typeface="Roboto"/>
                <a:ea typeface="Roboto"/>
              </a:rPr>
              <a:t>	</a:t>
            </a:r>
            <a:r>
              <a:rPr lang="en-US" sz="1700" b="0" u="none" strike="noStrike">
                <a:solidFill>
                  <a:srgbClr val="1D1C1D"/>
                </a:solidFill>
                <a:effectLst/>
                <a:uFillTx/>
                <a:latin typeface="Roboto"/>
                <a:ea typeface="Roboto"/>
              </a:rPr>
              <a:t>раздаются большие блоки строк таблицы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D1C1D"/>
                </a:solidFill>
                <a:effectLst/>
                <a:uFillTx/>
                <a:latin typeface="Roboto"/>
                <a:ea typeface="Roboto"/>
              </a:rPr>
              <a:t>	</a:t>
            </a:r>
            <a:r>
              <a:rPr lang="en-US" sz="1700" b="0" u="none" strike="noStrike">
                <a:solidFill>
                  <a:srgbClr val="1D1C1D"/>
                </a:solidFill>
                <a:effectLst/>
                <a:uFillTx/>
                <a:latin typeface="Roboto"/>
                <a:ea typeface="Roboto"/>
              </a:rPr>
              <a:t>блок разбивать на пачки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D1C1D"/>
                </a:solidFill>
                <a:effectLst/>
                <a:uFillTx/>
                <a:latin typeface="Roboto"/>
                <a:ea typeface="Roboto"/>
              </a:rPr>
              <a:t>	</a:t>
            </a:r>
            <a:r>
              <a:rPr lang="en-US" sz="1700" b="0" u="none" strike="noStrike">
                <a:solidFill>
                  <a:srgbClr val="1D1C1D"/>
                </a:solidFill>
                <a:effectLst/>
                <a:uFillTx/>
                <a:latin typeface="Roboto"/>
                <a:ea typeface="Roboto"/>
              </a:rPr>
              <a:t>запрашивать в источнике строки из пачки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D1C1D"/>
                </a:solidFill>
                <a:effectLst/>
                <a:uFillTx/>
                <a:latin typeface="Roboto"/>
                <a:ea typeface="Roboto"/>
              </a:rPr>
              <a:t>	</a:t>
            </a:r>
            <a:r>
              <a:rPr lang="en-US" sz="1700" b="0" u="none" strike="noStrike">
                <a:solidFill>
                  <a:srgbClr val="1D1C1D"/>
                </a:solidFill>
                <a:effectLst/>
                <a:uFillTx/>
                <a:latin typeface="Roboto"/>
                <a:ea typeface="Roboto"/>
              </a:rPr>
              <a:t>результат запроса – в очередь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D1C1D"/>
                </a:solidFill>
                <a:effectLst/>
                <a:uFillTx/>
                <a:latin typeface="Roboto"/>
                <a:ea typeface="Roboto"/>
              </a:rPr>
              <a:t>6. Потокам записи: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D1C1D"/>
                </a:solidFill>
                <a:effectLst/>
                <a:uFillTx/>
                <a:latin typeface="Roboto"/>
                <a:ea typeface="Roboto"/>
              </a:rPr>
              <a:t>	</a:t>
            </a:r>
            <a:r>
              <a:rPr lang="en-US" sz="1700" b="0" u="none" strike="noStrike">
                <a:solidFill>
                  <a:srgbClr val="1D1C1D"/>
                </a:solidFill>
                <a:effectLst/>
                <a:uFillTx/>
                <a:latin typeface="Roboto"/>
                <a:ea typeface="Roboto"/>
              </a:rPr>
              <a:t>писать в postgres с использованием инструкции COPY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243;p26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" name="Google Shape;244;p26"/>
          <p:cNvSpPr/>
          <p:nvPr/>
        </p:nvSpPr>
        <p:spPr>
          <a:xfrm>
            <a:off x="719640" y="348840"/>
            <a:ext cx="10752480" cy="50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90000"/>
              </a:lnSpc>
              <a:tabLst>
                <a:tab pos="0" algn="l"/>
              </a:tabLst>
            </a:pPr>
            <a:r>
              <a:rPr lang="en-US" sz="4500" b="1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Цели проекта</a:t>
            </a:r>
            <a:endParaRPr lang="en-US" sz="4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Google Shape;245;p26"/>
          <p:cNvSpPr/>
          <p:nvPr/>
        </p:nvSpPr>
        <p:spPr>
          <a:xfrm>
            <a:off x="7507440" y="2431800"/>
            <a:ext cx="2457720" cy="101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Выделение фигурой/маркером инфы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Google Shape;247;p26"/>
          <p:cNvSpPr/>
          <p:nvPr/>
        </p:nvSpPr>
        <p:spPr>
          <a:xfrm>
            <a:off x="6235920" y="4678560"/>
            <a:ext cx="2370240" cy="13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Использование цифр для опроса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0-9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Google Shape;250;p26"/>
          <p:cNvSpPr/>
          <p:nvPr/>
        </p:nvSpPr>
        <p:spPr>
          <a:xfrm>
            <a:off x="3817080" y="1584720"/>
            <a:ext cx="6390720" cy="70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Google Shape;255;p26"/>
          <p:cNvSpPr/>
          <p:nvPr/>
        </p:nvSpPr>
        <p:spPr>
          <a:xfrm>
            <a:off x="3323880" y="2426400"/>
            <a:ext cx="797040" cy="101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Google Shape;257;p26"/>
          <p:cNvSpPr/>
          <p:nvPr/>
        </p:nvSpPr>
        <p:spPr>
          <a:xfrm>
            <a:off x="3323880" y="3382560"/>
            <a:ext cx="797040" cy="101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Google Shape;258;p26"/>
          <p:cNvSpPr/>
          <p:nvPr/>
        </p:nvSpPr>
        <p:spPr>
          <a:xfrm>
            <a:off x="3817080" y="3685680"/>
            <a:ext cx="6390720" cy="70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Google Shape;260;p26"/>
          <p:cNvSpPr/>
          <p:nvPr/>
        </p:nvSpPr>
        <p:spPr>
          <a:xfrm>
            <a:off x="3817080" y="4508640"/>
            <a:ext cx="6390720" cy="70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Google Shape;261;p26"/>
          <p:cNvSpPr/>
          <p:nvPr/>
        </p:nvSpPr>
        <p:spPr>
          <a:xfrm>
            <a:off x="3323880" y="5322960"/>
            <a:ext cx="797040" cy="101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Google Shape;262;p26"/>
          <p:cNvSpPr/>
          <p:nvPr/>
        </p:nvSpPr>
        <p:spPr>
          <a:xfrm>
            <a:off x="3817080" y="5468760"/>
            <a:ext cx="6390720" cy="70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3" name="Google Shape;263;p26"/>
          <p:cNvPicPr/>
          <p:nvPr/>
        </p:nvPicPr>
        <p:blipFill>
          <a:blip r:embed="rId2"/>
          <a:stretch/>
        </p:blipFill>
        <p:spPr>
          <a:xfrm rot="2422200">
            <a:off x="10199880" y="4634280"/>
            <a:ext cx="1893240" cy="1893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4" name="Google Shape;297;p 2"/>
          <p:cNvSpPr/>
          <p:nvPr/>
        </p:nvSpPr>
        <p:spPr>
          <a:xfrm>
            <a:off x="180000" y="1265760"/>
            <a:ext cx="11520000" cy="513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1D1C1D"/>
                </a:solidFill>
                <a:effectLst/>
                <a:uFillTx/>
                <a:latin typeface="Roboto"/>
                <a:ea typeface="Roboto"/>
              </a:rPr>
              <a:t>1. Использовать асинхронные механизмы языка С для ускорения миграции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1D1C1D"/>
                </a:solidFill>
                <a:effectLst/>
                <a:uFillTx/>
                <a:latin typeface="Roboto"/>
                <a:ea typeface="Roboto"/>
              </a:rPr>
              <a:t>2. Добиться наблюдаемого поведения буфера для балансировки потоков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269;p27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6" name="Google Shape;270;p27"/>
          <p:cNvSpPr/>
          <p:nvPr/>
        </p:nvSpPr>
        <p:spPr>
          <a:xfrm>
            <a:off x="719640" y="348840"/>
            <a:ext cx="10752120" cy="50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90000"/>
              </a:lnSpc>
              <a:tabLst>
                <a:tab pos="0" algn="l"/>
              </a:tabLst>
            </a:pPr>
            <a:r>
              <a:rPr lang="en-US" sz="4500" b="1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Технологии</a:t>
            </a:r>
            <a:endParaRPr lang="en-US" sz="4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Google Shape;272;p27"/>
          <p:cNvSpPr/>
          <p:nvPr/>
        </p:nvSpPr>
        <p:spPr>
          <a:xfrm>
            <a:off x="3554280" y="4678560"/>
            <a:ext cx="2370240" cy="13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Одна мысль на слайде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без картинок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Google Shape;273;p27"/>
          <p:cNvSpPr/>
          <p:nvPr/>
        </p:nvSpPr>
        <p:spPr>
          <a:xfrm>
            <a:off x="6235920" y="4678560"/>
            <a:ext cx="2370240" cy="13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Использование цифр для опроса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0-9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Google Shape;276;p27"/>
          <p:cNvSpPr/>
          <p:nvPr/>
        </p:nvSpPr>
        <p:spPr>
          <a:xfrm>
            <a:off x="3817080" y="1584720"/>
            <a:ext cx="6390720" cy="70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Google Shape;282;p27"/>
          <p:cNvSpPr/>
          <p:nvPr/>
        </p:nvSpPr>
        <p:spPr>
          <a:xfrm>
            <a:off x="3817080" y="2729520"/>
            <a:ext cx="6390720" cy="70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Google Shape;286;p27"/>
          <p:cNvSpPr/>
          <p:nvPr/>
        </p:nvSpPr>
        <p:spPr>
          <a:xfrm>
            <a:off x="3817080" y="4508640"/>
            <a:ext cx="6390720" cy="70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Google Shape;288;p27"/>
          <p:cNvSpPr/>
          <p:nvPr/>
        </p:nvSpPr>
        <p:spPr>
          <a:xfrm>
            <a:off x="3817080" y="5468760"/>
            <a:ext cx="6390720" cy="70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3" name="Google Shape;289;p27"/>
          <p:cNvPicPr/>
          <p:nvPr/>
        </p:nvPicPr>
        <p:blipFill>
          <a:blip r:embed="rId2"/>
          <a:stretch/>
        </p:blipFill>
        <p:spPr>
          <a:xfrm rot="2422200">
            <a:off x="10199880" y="4634280"/>
            <a:ext cx="1893240" cy="1893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4" name="Google Shape;297;p 3"/>
          <p:cNvSpPr/>
          <p:nvPr/>
        </p:nvSpPr>
        <p:spPr>
          <a:xfrm>
            <a:off x="180000" y="1265760"/>
            <a:ext cx="11520000" cy="513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u="none" strike="noStrike">
                <a:solidFill>
                  <a:srgbClr val="1D1C1D"/>
                </a:solidFill>
                <a:effectLst/>
                <a:uFillTx/>
                <a:latin typeface="Roboto"/>
                <a:ea typeface="Roboto"/>
              </a:rPr>
              <a:t>pthreads для: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u="none" strike="noStrike">
                <a:solidFill>
                  <a:srgbClr val="1D1C1D"/>
                </a:solidFill>
                <a:effectLst/>
                <a:uFillTx/>
                <a:latin typeface="Roboto"/>
                <a:ea typeface="Roboto"/>
              </a:rPr>
              <a:t>1. чтения из ms sql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u="none" strike="noStrike">
                <a:solidFill>
                  <a:srgbClr val="1D1C1D"/>
                </a:solidFill>
                <a:effectLst/>
                <a:uFillTx/>
                <a:latin typeface="Roboto"/>
                <a:ea typeface="Roboto"/>
              </a:rPr>
              <a:t>2. </a:t>
            </a:r>
            <a:r>
              <a:rPr lang="en-US" sz="3600" b="0" u="none" strike="noStrike">
                <a:solidFill>
                  <a:srgbClr val="1D1C1D"/>
                </a:solidFill>
                <a:effectLst/>
                <a:uFillTx/>
                <a:latin typeface="Roboto"/>
                <a:ea typeface="Roboto"/>
              </a:rPr>
              <a:t>записи в postresql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u="none" strike="noStrike">
                <a:solidFill>
                  <a:srgbClr val="1D1C1D"/>
                </a:solidFill>
                <a:effectLst/>
                <a:uFillTx/>
                <a:latin typeface="Roboto"/>
                <a:ea typeface="Roboto"/>
              </a:rPr>
              <a:t>3. очереди на</a:t>
            </a:r>
            <a:r>
              <a:rPr lang="en-US" sz="3600" b="0" u="none" strike="noStrike">
                <a:solidFill>
                  <a:srgbClr val="1D1C1D"/>
                </a:solidFill>
                <a:effectLst/>
                <a:uFillTx/>
                <a:latin typeface="Roboto"/>
                <a:ea typeface="Roboto"/>
              </a:rPr>
              <a:t> linked list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D1C1D"/>
                </a:solidFill>
                <a:effectLst/>
                <a:uFillTx/>
                <a:latin typeface="Roboto"/>
                <a:ea typeface="Roboto"/>
              </a:rPr>
              <a:t> 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295;p28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6" name="Google Shape;296;p28"/>
          <p:cNvSpPr/>
          <p:nvPr/>
        </p:nvSpPr>
        <p:spPr>
          <a:xfrm>
            <a:off x="719640" y="348840"/>
            <a:ext cx="10752120" cy="50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90000"/>
              </a:lnSpc>
              <a:tabLst>
                <a:tab pos="0" algn="l"/>
              </a:tabLst>
            </a:pPr>
            <a:r>
              <a:rPr lang="en-US" sz="4500" b="1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Ар</a:t>
            </a:r>
            <a:r>
              <a:rPr lang="en-US" sz="4500" b="1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хи</a:t>
            </a:r>
            <a:r>
              <a:rPr lang="en-US" sz="4500" b="1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те</a:t>
            </a:r>
            <a:r>
              <a:rPr lang="en-US" sz="4500" b="1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кт</a:t>
            </a:r>
            <a:r>
              <a:rPr lang="en-US" sz="4500" b="1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ур</a:t>
            </a:r>
            <a:r>
              <a:rPr lang="en-US" sz="4500" b="1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а</a:t>
            </a:r>
            <a:endParaRPr lang="en-US" sz="4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Google Shape;297;p28"/>
          <p:cNvSpPr/>
          <p:nvPr/>
        </p:nvSpPr>
        <p:spPr>
          <a:xfrm>
            <a:off x="719640" y="1260000"/>
            <a:ext cx="10325880" cy="538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1D1C1D"/>
                </a:solidFill>
                <a:effectLst/>
                <a:uFillTx/>
                <a:latin typeface="Roboto"/>
                <a:ea typeface="Roboto"/>
              </a:rPr>
              <a:t>1. create table barcodes (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1D1C1D"/>
                </a:solidFill>
                <a:effectLst/>
                <a:uFillTx/>
                <a:latin typeface="Roboto"/>
                <a:ea typeface="Roboto"/>
              </a:rPr>
              <a:t>	</a:t>
            </a:r>
            <a:r>
              <a:rPr lang="en-US" sz="2000" b="0" u="none" strike="noStrike">
                <a:solidFill>
                  <a:srgbClr val="1D1C1D"/>
                </a:solidFill>
                <a:effectLst/>
                <a:uFillTx/>
                <a:latin typeface="Roboto"/>
                <a:ea typeface="Roboto"/>
              </a:rPr>
              <a:t>id bigint identity(1,1) primary key,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1D1C1D"/>
                </a:solidFill>
                <a:effectLst/>
                <a:uFillTx/>
                <a:latin typeface="Roboto"/>
                <a:ea typeface="Roboto"/>
              </a:rPr>
              <a:t>	</a:t>
            </a:r>
            <a:r>
              <a:rPr lang="en-US" sz="2000" b="0" u="none" strike="noStrike">
                <a:solidFill>
                  <a:srgbClr val="1D1C1D"/>
                </a:solidFill>
                <a:effectLst/>
                <a:uFillTx/>
                <a:latin typeface="Roboto"/>
                <a:ea typeface="Roboto"/>
              </a:rPr>
              <a:t>code varchar(150) unique</a:t>
            </a:r>
            <a:r>
              <a:rPr lang="en-US" sz="2000" b="0" u="none" strike="noStrike">
                <a:solidFill>
                  <a:srgbClr val="1D1C1D"/>
                </a:solidFill>
                <a:effectLst/>
                <a:uFillTx/>
                <a:latin typeface="Roboto"/>
                <a:ea typeface="Roboto"/>
              </a:rPr>
              <a:t>,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1D1C1D"/>
                </a:solidFill>
                <a:effectLst/>
                <a:uFillTx/>
                <a:latin typeface="Roboto"/>
                <a:ea typeface="Roboto"/>
              </a:rPr>
              <a:t>	</a:t>
            </a:r>
            <a:r>
              <a:rPr lang="en-US" sz="2000" b="0" u="none" strike="noStrike">
                <a:solidFill>
                  <a:srgbClr val="1D1C1D"/>
                </a:solidFill>
                <a:effectLst/>
                <a:uFillTx/>
                <a:latin typeface="Roboto"/>
                <a:ea typeface="Roboto"/>
              </a:rPr>
              <a:t>val varchar(255));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1D1C1D"/>
                </a:solidFill>
                <a:effectLst/>
                <a:uFillTx/>
                <a:latin typeface="Roboto"/>
                <a:ea typeface="Roboto"/>
              </a:rPr>
              <a:t>2. select min(id) as MIN, max(id) as MAX from barcodes;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1D1C1D"/>
                </a:solidFill>
                <a:effectLst/>
                <a:uFillTx/>
                <a:latin typeface="Roboto"/>
                <a:ea typeface="Roboto"/>
              </a:rPr>
              <a:t>3. big_batch = (MAX – MIN)/MS_threads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1D1C1D"/>
                </a:solidFill>
                <a:effectLst/>
                <a:uFillTx/>
                <a:latin typeface="Roboto"/>
                <a:ea typeface="Roboto"/>
              </a:rPr>
              <a:t>4. в потоки: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1D1C1D"/>
                </a:solidFill>
                <a:effectLst/>
                <a:uFillTx/>
                <a:latin typeface="Roboto"/>
                <a:ea typeface="Roboto"/>
              </a:rPr>
              <a:t>	</a:t>
            </a:r>
            <a:r>
              <a:rPr lang="en-US" sz="2000" b="0" u="none" strike="noStrike">
                <a:solidFill>
                  <a:srgbClr val="1D1C1D"/>
                </a:solidFill>
                <a:effectLst/>
                <a:uFillTx/>
                <a:latin typeface="Roboto"/>
                <a:ea typeface="Roboto"/>
              </a:rPr>
              <a:t>(MIN, MIN + big_batch – 1)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1D1C1D"/>
                </a:solidFill>
                <a:effectLst/>
                <a:uFillTx/>
                <a:latin typeface="Roboto"/>
                <a:ea typeface="Roboto"/>
              </a:rPr>
              <a:t>	</a:t>
            </a:r>
            <a:r>
              <a:rPr lang="en-US" sz="2000" b="0" u="none" strike="noStrike">
                <a:solidFill>
                  <a:srgbClr val="1D1C1D"/>
                </a:solidFill>
                <a:effectLst/>
                <a:uFillTx/>
                <a:latin typeface="Roboto"/>
                <a:ea typeface="Roboto"/>
              </a:rPr>
              <a:t>(MIN + big_batch, MIN + 2*big_batch – 1</a:t>
            </a:r>
            <a:r>
              <a:rPr lang="en-US" sz="2000" b="0" u="none" strike="noStrike">
                <a:solidFill>
                  <a:srgbClr val="1D1C1D"/>
                </a:solidFill>
                <a:effectLst/>
                <a:uFillTx/>
                <a:latin typeface="Roboto"/>
                <a:ea typeface="Roboto"/>
              </a:rPr>
              <a:t>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1D1C1D"/>
                </a:solidFill>
                <a:effectLst/>
                <a:uFillTx/>
                <a:latin typeface="Roboto"/>
                <a:ea typeface="Roboto"/>
              </a:rPr>
              <a:t>	</a:t>
            </a:r>
            <a:r>
              <a:rPr lang="en-US" sz="2000" b="0" u="none" strike="noStrike">
                <a:solidFill>
                  <a:srgbClr val="1D1C1D"/>
                </a:solidFill>
                <a:effectLst/>
                <a:uFillTx/>
                <a:latin typeface="Roboto"/>
                <a:ea typeface="Roboto"/>
              </a:rPr>
              <a:t> …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1D1C1D"/>
                </a:solidFill>
                <a:effectLst/>
                <a:uFillTx/>
                <a:latin typeface="Roboto"/>
                <a:ea typeface="Roboto"/>
              </a:rPr>
              <a:t>5. в потоке i: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1D1C1D"/>
                </a:solidFill>
                <a:effectLst/>
                <a:uFillTx/>
                <a:latin typeface="Roboto"/>
                <a:ea typeface="Roboto"/>
              </a:rPr>
              <a:t>	</a:t>
            </a:r>
            <a:r>
              <a:rPr lang="en-US" sz="2000" b="0" u="none" strike="noStrike">
                <a:solidFill>
                  <a:srgbClr val="1D1C1D"/>
                </a:solidFill>
                <a:effectLst/>
                <a:uFillTx/>
                <a:latin typeface="Roboto"/>
                <a:ea typeface="Roboto"/>
              </a:rPr>
              <a:t>batch=10000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1D1C1D"/>
                </a:solidFill>
                <a:effectLst/>
                <a:uFillTx/>
                <a:latin typeface="Roboto"/>
                <a:ea typeface="Roboto"/>
              </a:rPr>
              <a:t>	</a:t>
            </a:r>
            <a:r>
              <a:rPr lang="en-US" sz="2000" b="0" u="none" strike="noStrike">
                <a:solidFill>
                  <a:srgbClr val="1D1C1D"/>
                </a:solidFill>
                <a:effectLst/>
                <a:uFillTx/>
                <a:latin typeface="Roboto"/>
                <a:ea typeface="Roboto"/>
              </a:rPr>
              <a:t>(min_i, min_i + batch – 1)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1D1C1D"/>
                </a:solidFill>
                <a:effectLst/>
                <a:uFillTx/>
                <a:latin typeface="Roboto"/>
                <a:ea typeface="Roboto"/>
              </a:rPr>
              <a:t>	</a:t>
            </a:r>
            <a:r>
              <a:rPr lang="en-US" sz="2000" b="0" u="none" strike="noStrike">
                <a:solidFill>
                  <a:srgbClr val="1D1C1D"/>
                </a:solidFill>
                <a:effectLst/>
                <a:uFillTx/>
                <a:latin typeface="Roboto"/>
                <a:ea typeface="Roboto"/>
              </a:rPr>
              <a:t>…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1D1C1D"/>
                </a:solidFill>
                <a:effectLst/>
                <a:uFillTx/>
                <a:latin typeface="Roboto"/>
                <a:ea typeface="Roboto"/>
              </a:rPr>
              <a:t>6. </a:t>
            </a:r>
            <a:r>
              <a:rPr lang="en-US" sz="2000" b="0" u="none" strike="noStrike">
                <a:solidFill>
                  <a:srgbClr val="1D1C1D"/>
                </a:solidFill>
                <a:effectLst/>
                <a:uFillTx/>
                <a:latin typeface="Roboto"/>
                <a:ea typeface="Roboto"/>
              </a:rPr>
              <a:t>	</a:t>
            </a:r>
            <a:r>
              <a:rPr lang="en-US" sz="2000" b="0" u="none" strike="noStrike">
                <a:solidFill>
                  <a:srgbClr val="1D1C1D"/>
                </a:solidFill>
                <a:effectLst/>
                <a:uFillTx/>
                <a:latin typeface="Roboto"/>
                <a:ea typeface="Roboto"/>
              </a:rPr>
              <a:t>select id,code,val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1D1C1D"/>
                </a:solidFill>
                <a:effectLst/>
                <a:uFillTx/>
                <a:latin typeface="Roboto"/>
                <a:ea typeface="Roboto"/>
              </a:rPr>
              <a:t>	</a:t>
            </a:r>
            <a:r>
              <a:rPr lang="en-US" sz="2000" b="0" u="none" strike="noStrike">
                <a:solidFill>
                  <a:srgbClr val="1D1C1D"/>
                </a:solidFill>
                <a:effectLst/>
                <a:uFillTx/>
                <a:latin typeface="Roboto"/>
                <a:ea typeface="Roboto"/>
              </a:rPr>
              <a:t>from barcodes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1D1C1D"/>
                </a:solidFill>
                <a:effectLst/>
                <a:uFillTx/>
                <a:latin typeface="Roboto"/>
                <a:ea typeface="Roboto"/>
              </a:rPr>
              <a:t>	</a:t>
            </a:r>
            <a:r>
              <a:rPr lang="en-US" sz="2000" b="0" u="none" strike="noStrike">
                <a:solidFill>
                  <a:srgbClr val="1D1C1D"/>
                </a:solidFill>
                <a:effectLst/>
                <a:uFillTx/>
                <a:latin typeface="Roboto"/>
                <a:ea typeface="Roboto"/>
              </a:rPr>
              <a:t>where id between </a:t>
            </a:r>
            <a:r>
              <a:rPr lang="en-US" sz="2000" b="0" u="none" strike="noStrike">
                <a:solidFill>
                  <a:srgbClr val="1D1C1D"/>
                </a:solidFill>
                <a:effectLst/>
                <a:uFillTx/>
                <a:latin typeface="Roboto"/>
                <a:ea typeface="Roboto"/>
              </a:rPr>
              <a:t>min_i and min_i + batch – 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302;p29"/>
          <p:cNvPicPr/>
          <p:nvPr/>
        </p:nvPicPr>
        <p:blipFill>
          <a:blip r:embed="rId1"/>
          <a:stretch/>
        </p:blipFill>
        <p:spPr>
          <a:xfrm>
            <a:off x="4824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9" name="Google Shape;303;p29"/>
          <p:cNvSpPr/>
          <p:nvPr/>
        </p:nvSpPr>
        <p:spPr>
          <a:xfrm>
            <a:off x="719640" y="348840"/>
            <a:ext cx="10752120" cy="50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90000"/>
              </a:lnSpc>
              <a:tabLst>
                <a:tab pos="0" algn="l"/>
              </a:tabLst>
            </a:pPr>
            <a:r>
              <a:rPr lang="en-US" sz="4500" b="1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Результаты</a:t>
            </a:r>
            <a:endParaRPr lang="en-US" sz="4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Google Shape;297;p 4"/>
          <p:cNvSpPr/>
          <p:nvPr/>
        </p:nvSpPr>
        <p:spPr>
          <a:xfrm>
            <a:off x="180000" y="1265760"/>
            <a:ext cx="11520000" cy="513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00" b="0" u="none" strike="noStrike">
                <a:solidFill>
                  <a:srgbClr val="1D1C1D"/>
                </a:solidFill>
                <a:effectLst/>
                <a:uFillTx/>
                <a:latin typeface="Roboto"/>
                <a:ea typeface="Roboto"/>
              </a:rPr>
              <a:t>1. Многопоточная вставка в postgres из очереди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00" b="0" u="none" strike="noStrike">
                <a:solidFill>
                  <a:srgbClr val="1D1C1D"/>
                </a:solidFill>
                <a:effectLst/>
                <a:uFillTx/>
                <a:latin typeface="Roboto"/>
                <a:ea typeface="Roboto"/>
              </a:rPr>
              <a:t>2. Выборка пачки из mysql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00" b="0" u="none" strike="noStrike">
                <a:solidFill>
                  <a:srgbClr val="1D1C1D"/>
                </a:solidFill>
                <a:effectLst/>
                <a:uFillTx/>
                <a:latin typeface="Roboto"/>
                <a:ea typeface="Roboto"/>
              </a:rPr>
              <a:t>3. </a:t>
            </a:r>
            <a:r>
              <a:rPr lang="en-US" sz="2800" b="0" u="none" strike="noStrike">
                <a:solidFill>
                  <a:srgbClr val="1D1C1D"/>
                </a:solidFill>
                <a:effectLst/>
                <a:uFillTx/>
                <a:latin typeface="Roboto"/>
                <a:ea typeface="Roboto"/>
              </a:rPr>
              <a:t>https://github.com/gyngazov/otus-c-2026-01/tree/project/HW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D1C1D"/>
                </a:solidFill>
                <a:effectLst/>
                <a:uFillTx/>
                <a:latin typeface="Roboto"/>
                <a:ea typeface="Roboto"/>
              </a:rPr>
              <a:t> 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320;p31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2" name="Google Shape;321;p31"/>
          <p:cNvSpPr/>
          <p:nvPr/>
        </p:nvSpPr>
        <p:spPr>
          <a:xfrm>
            <a:off x="0" y="0"/>
            <a:ext cx="12191760" cy="1859040"/>
          </a:xfrm>
          <a:prstGeom prst="rect">
            <a:avLst/>
          </a:prstGeom>
          <a:gradFill rotWithShape="0">
            <a:gsLst>
              <a:gs pos="0">
                <a:srgbClr val="262E78">
                  <a:alpha val="70196"/>
                </a:srgbClr>
              </a:gs>
              <a:gs pos="100000">
                <a:srgbClr val="01C3BA">
                  <a:alpha val="46275"/>
                </a:srgbClr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Google Shape;322;p31"/>
          <p:cNvSpPr/>
          <p:nvPr/>
        </p:nvSpPr>
        <p:spPr>
          <a:xfrm>
            <a:off x="0" y="4643280"/>
            <a:ext cx="12191760" cy="2229840"/>
          </a:xfrm>
          <a:prstGeom prst="rect">
            <a:avLst/>
          </a:prstGeom>
          <a:gradFill rotWithShape="0">
            <a:gsLst>
              <a:gs pos="0">
                <a:srgbClr val="262E78">
                  <a:alpha val="61176"/>
                </a:srgbClr>
              </a:gs>
              <a:gs pos="100000">
                <a:srgbClr val="00756F">
                  <a:alpha val="57255"/>
                </a:srgbClr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Google Shape;323;p31"/>
          <p:cNvSpPr/>
          <p:nvPr/>
        </p:nvSpPr>
        <p:spPr>
          <a:xfrm>
            <a:off x="54720" y="2603160"/>
            <a:ext cx="12082320" cy="1296000"/>
          </a:xfrm>
          <a:prstGeom prst="roundRect">
            <a:avLst>
              <a:gd name="adj" fmla="val 60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000" tIns="22320" rIns="45000" bIns="2232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50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Спасибо за </a:t>
            </a:r>
            <a:r>
              <a:rPr lang="en-US" sz="50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внимание!</a:t>
            </a:r>
            <a:br>
              <a:rPr sz="5000"/>
            </a:br>
            <a:endParaRPr lang="en-US" sz="5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PlaceHolder 1"/>
          <p:cNvSpPr>
            <a:spLocks noGrp="1"/>
          </p:cNvSpPr>
          <p:nvPr>
            <p:ph/>
          </p:nvPr>
        </p:nvSpPr>
        <p:spPr>
          <a:xfrm>
            <a:off x="5221080" y="5034600"/>
            <a:ext cx="6554880" cy="522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17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Гынгазов Лев</a:t>
            </a:r>
            <a:endParaRPr lang="en-US" sz="3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5221080" y="5590080"/>
            <a:ext cx="6554880" cy="308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62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Заместитель директора</a:t>
            </a:r>
            <a:endParaRPr lang="en-US" sz="16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/>
          </p:nvPr>
        </p:nvSpPr>
        <p:spPr>
          <a:xfrm>
            <a:off x="5221080" y="5935320"/>
            <a:ext cx="6554880" cy="308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62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АО “ЦЕНТРИНОФРМ”  </a:t>
            </a:r>
            <a:r>
              <a:rPr lang="en-US" sz="162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Московский филиал</a:t>
            </a:r>
            <a:endParaRPr lang="en-US" sz="16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PlaceHolder 4"/>
          <p:cNvSpPr>
            <a:spLocks noGrp="1"/>
          </p:cNvSpPr>
          <p:nvPr>
            <p:ph/>
          </p:nvPr>
        </p:nvSpPr>
        <p:spPr>
          <a:xfrm>
            <a:off x="5221080" y="6269760"/>
            <a:ext cx="6554880" cy="308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97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l.gyngazov@yandex.ru</a:t>
            </a:r>
            <a:endParaRPr lang="en-US" sz="1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</TotalTime>
  <Application>LibreOffice/26.2.1.2$Linux_X86_64 LibreOffice_project/620$Build-2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ru-RU</dc:language>
  <cp:lastModifiedBy/>
  <dcterms:modified xsi:type="dcterms:W3CDTF">2026-07-23T11:46:54Z</dcterms:modified>
  <cp:revision>9</cp:revision>
  <dc:subject/>
  <dc:title/>
</cp:coreProperties>
</file>